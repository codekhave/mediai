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822960"/>
            <a:ext cx="9997135" cy="521208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188720"/>
            <a:ext cx="8899855" cy="4480560"/>
          </a:xfrm>
          <a:prstGeom prst="rect">
            <a:avLst/>
          </a:prstGeom>
          <a:noFill/>
        </p:spPr>
        <p:txBody>
          <a:bodyPr wrap="square">
            <a:spAutoFit/>
          </a:bodyPr>
          <a:lstStyle/>
          <a:p>
            <a:pPr>
              <a:defRPr sz="1100" b="1">
                <a:solidFill>
                  <a:srgbClr val="6D28D9"/>
                </a:solidFill>
                <a:latin typeface="Arial"/>
              </a:defRPr>
            </a:pPr>
            <a:r>
              <a:t>MEDIAI TELEHEALTH PLATFORM • EXECUTIVE SPECIFICATION</a:t>
            </a:r>
          </a:p>
          <a:p>
            <a:pPr>
              <a:spcBef>
                <a:spcPts val="600"/>
              </a:spcBef>
              <a:spcAft>
                <a:spcPts val="1000"/>
              </a:spcAft>
              <a:defRPr sz="2800" b="1">
                <a:solidFill>
                  <a:srgbClr val="4C1D95"/>
                </a:solidFill>
                <a:latin typeface="Arial"/>
              </a:defRPr>
            </a:pPr>
            <a:r>
              <a:t>Pre-Consultation Safety Triage &amp; Encrypted Telehealth Engine</a:t>
            </a:r>
          </a:p>
          <a:p>
            <a:pPr>
              <a:spcAft>
                <a:spcPts val="1800"/>
              </a:spcAft>
              <a:defRPr sz="1250">
                <a:solidFill>
                  <a:srgbClr val="0F172A"/>
                </a:solidFill>
                <a:latin typeface="Arial"/>
              </a:defRPr>
            </a:pPr>
            <a:r>
              <a:t>A Unified Healthcare Ecosystem Combining Multi-Tier Differential Diagnosis, Patient Safety Contraindication Protocols, WhatsApp-Grade 256-Bit Encrypted Messaging, Verified Physician Video Demonstration Hub, and Medical Board Credential Verification.</a:t>
            </a:r>
          </a:p>
          <a:p>
            <a:pPr>
              <a:defRPr sz="1000">
                <a:solidFill>
                  <a:srgbClr val="475569"/>
                </a:solidFill>
                <a:latin typeface="Arial"/>
              </a:defRPr>
            </a:pPr>
            <a:r>
              <a:t>Lead Engineer: Daniel Isaac Echo (CS/DE/2022/1300)</a:t>
            </a:r>
            <a:br/>
            <a:r>
              <a:t>Department of Computer Science • Caritas University, Enugu</a:t>
            </a:r>
            <a:br/>
            <a:r>
              <a:t>Supervisor &amp; HOD: Mr. Ejike Ugwu • Project Coordinator: Mr. Abundance Akpan</a:t>
            </a:r>
            <a:br/>
            <a:r>
              <a:t>Date: September 2026 • Version 2.5 (Clinical Safety Edition)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4C1D95"/>
          </a:solidFill>
          <a:ln>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D8B4FE"/>
                </a:solidFill>
                <a:latin typeface="Arial"/>
              </a:defRPr>
            </a:pPr>
            <a:r>
              <a:t>CONTEXT &amp; CLINICAL NEED</a:t>
            </a:r>
          </a:p>
        </p:txBody>
      </p:sp>
      <p:sp>
        <p:nvSpPr>
          <p:cNvPr id="4" name="TextBox 3"/>
          <p:cNvSpPr txBox="1"/>
          <p:nvPr/>
        </p:nvSpPr>
        <p:spPr>
          <a:xfrm>
            <a:off x="731520" y="365760"/>
            <a:ext cx="10698480" cy="594360"/>
          </a:xfrm>
          <a:prstGeom prst="rect">
            <a:avLst/>
          </a:prstGeom>
          <a:noFill/>
        </p:spPr>
        <p:txBody>
          <a:bodyPr wrap="square">
            <a:spAutoFit/>
          </a:bodyPr>
          <a:lstStyle/>
          <a:p>
            <a:pPr>
              <a:defRPr sz="2000" b="1">
                <a:solidFill>
                  <a:srgbClr val="FFFFFF"/>
                </a:solidFill>
                <a:latin typeface="Arial"/>
              </a:defRPr>
            </a:pPr>
            <a:r>
              <a:t>The Problem: Hazardous Self-Medication &amp; Autonomous Prescribing Risks</a:t>
            </a:r>
          </a:p>
        </p:txBody>
      </p:sp>
      <p:sp>
        <p:nvSpPr>
          <p:cNvPr id="5" name="Rounded Rectangle 4"/>
          <p:cNvSpPr/>
          <p:nvPr/>
        </p:nvSpPr>
        <p:spPr>
          <a:xfrm>
            <a:off x="731520" y="1371600"/>
            <a:ext cx="3413455" cy="484632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2956255" cy="4389120"/>
          </a:xfrm>
          <a:prstGeom prst="rect">
            <a:avLst/>
          </a:prstGeom>
          <a:noFill/>
        </p:spPr>
        <p:txBody>
          <a:bodyPr wrap="square">
            <a:spAutoFit/>
          </a:bodyPr>
          <a:lstStyle/>
          <a:p>
            <a:pPr>
              <a:spcAft>
                <a:spcPts val="1000"/>
              </a:spcAft>
              <a:defRPr sz="1300" b="1">
                <a:solidFill>
                  <a:srgbClr val="4C1D95"/>
                </a:solidFill>
                <a:latin typeface="Arial"/>
              </a:defRPr>
            </a:pPr>
            <a:r>
              <a:t>The Autonomous Pharmacist Trap</a:t>
            </a:r>
          </a:p>
          <a:p>
            <a:pPr>
              <a:spcAft>
                <a:spcPts val="400"/>
              </a:spcAft>
              <a:defRPr sz="1000">
                <a:solidFill>
                  <a:srgbClr val="0F172A"/>
                </a:solidFill>
                <a:latin typeface="Arial"/>
              </a:defRPr>
            </a:pPr>
            <a:r>
              <a:t>A common mistake in AI healthcare is attempting to build an autonomous pharmacist that dispenses drugs directly to patients. This creates extreme medical malpractice hazards, because algorithms cannot perform physical auscultation, palpation, or endoscopy.</a:t>
            </a:r>
          </a:p>
        </p:txBody>
      </p:sp>
      <p:sp>
        <p:nvSpPr>
          <p:cNvPr id="7" name="Rounded Rectangle 6"/>
          <p:cNvSpPr/>
          <p:nvPr/>
        </p:nvSpPr>
        <p:spPr>
          <a:xfrm>
            <a:off x="4389120" y="1371600"/>
            <a:ext cx="3413455" cy="484632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600200"/>
            <a:ext cx="2956255" cy="4389120"/>
          </a:xfrm>
          <a:prstGeom prst="rect">
            <a:avLst/>
          </a:prstGeom>
          <a:noFill/>
        </p:spPr>
        <p:txBody>
          <a:bodyPr wrap="square">
            <a:spAutoFit/>
          </a:bodyPr>
          <a:lstStyle/>
          <a:p>
            <a:pPr>
              <a:spcAft>
                <a:spcPts val="1000"/>
              </a:spcAft>
              <a:defRPr sz="1300" b="1">
                <a:solidFill>
                  <a:srgbClr val="4C1D95"/>
                </a:solidFill>
                <a:latin typeface="Arial"/>
              </a:defRPr>
            </a:pPr>
            <a:r>
              <a:t>The Lethal NSAID Contraindication</a:t>
            </a:r>
          </a:p>
          <a:p>
            <a:pPr>
              <a:spcAft>
                <a:spcPts val="400"/>
              </a:spcAft>
              <a:defRPr sz="1000">
                <a:solidFill>
                  <a:srgbClr val="0F172A"/>
                </a:solidFill>
                <a:latin typeface="Arial"/>
              </a:defRPr>
            </a:pPr>
            <a:r>
              <a:t>In real-world clinics, patients with gastric ulcers or severe stomach irritation often feel pain referring to their back. If an AI presumes body pain and prescribes NSAIDs (Ibuprofen, Diclofenac, Aspirin), it triggers severe mucosal erosion and life-threatening internal bleeding!</a:t>
            </a:r>
          </a:p>
        </p:txBody>
      </p:sp>
      <p:sp>
        <p:nvSpPr>
          <p:cNvPr id="9" name="Rounded Rectangle 8"/>
          <p:cNvSpPr/>
          <p:nvPr/>
        </p:nvSpPr>
        <p:spPr>
          <a:xfrm>
            <a:off x="8046720" y="1371600"/>
            <a:ext cx="3413455" cy="484632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600200"/>
            <a:ext cx="2956255" cy="4389120"/>
          </a:xfrm>
          <a:prstGeom prst="rect">
            <a:avLst/>
          </a:prstGeom>
          <a:noFill/>
        </p:spPr>
        <p:txBody>
          <a:bodyPr wrap="square">
            <a:spAutoFit/>
          </a:bodyPr>
          <a:lstStyle/>
          <a:p>
            <a:pPr>
              <a:spcAft>
                <a:spcPts val="1000"/>
              </a:spcAft>
              <a:defRPr sz="1300" b="1">
                <a:solidFill>
                  <a:srgbClr val="4C1D95"/>
                </a:solidFill>
                <a:latin typeface="Arial"/>
              </a:defRPr>
            </a:pPr>
            <a:r>
              <a:t>The MediAI Paradigm Shift</a:t>
            </a:r>
          </a:p>
          <a:p>
            <a:pPr>
              <a:spcAft>
                <a:spcPts val="400"/>
              </a:spcAft>
              <a:defRPr sz="1000">
                <a:solidFill>
                  <a:srgbClr val="0F172A"/>
                </a:solidFill>
                <a:latin typeface="Arial"/>
              </a:defRPr>
            </a:pPr>
            <a:r>
              <a:t>Instead of autonomous drug prescribing, MediAI delivers Pre-Consultation Safety Triage: guiding patients on what to do and NOT to do (strictly avoiding NSAIDs, taking plain Paracetamol, chair transition posture) and bridging them seamlessly into consultations with verified doctors.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4C1D95"/>
          </a:solidFill>
          <a:ln>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D8B4FE"/>
                </a:solidFill>
                <a:latin typeface="Arial"/>
              </a:defRPr>
            </a:pPr>
            <a:r>
              <a:t>CLINICAL CASE STUDY</a:t>
            </a:r>
          </a:p>
        </p:txBody>
      </p:sp>
      <p:sp>
        <p:nvSpPr>
          <p:cNvPr id="4" name="TextBox 3"/>
          <p:cNvSpPr txBox="1"/>
          <p:nvPr/>
        </p:nvSpPr>
        <p:spPr>
          <a:xfrm>
            <a:off x="731520" y="365760"/>
            <a:ext cx="10698480" cy="594360"/>
          </a:xfrm>
          <a:prstGeom prst="rect">
            <a:avLst/>
          </a:prstGeom>
          <a:noFill/>
        </p:spPr>
        <p:txBody>
          <a:bodyPr wrap="square">
            <a:spAutoFit/>
          </a:bodyPr>
          <a:lstStyle/>
          <a:p>
            <a:pPr>
              <a:defRPr sz="2000" b="1">
                <a:solidFill>
                  <a:srgbClr val="FFFFFF"/>
                </a:solidFill>
                <a:latin typeface="Arial"/>
              </a:defRPr>
            </a:pPr>
            <a:r>
              <a:t>Real-Life Validation: The Ulcer-Spine Referral Diagnostic Architecture</a:t>
            </a:r>
          </a:p>
        </p:txBody>
      </p:sp>
      <p:sp>
        <p:nvSpPr>
          <p:cNvPr id="5" name="Rounded Rectangle 4"/>
          <p:cNvSpPr/>
          <p:nvPr/>
        </p:nvSpPr>
        <p:spPr>
          <a:xfrm>
            <a:off x="731520" y="1371600"/>
            <a:ext cx="3413455" cy="4846320"/>
          </a:xfrm>
          <a:prstGeom prst="roundRect">
            <a:avLst/>
          </a:prstGeom>
          <a:solidFill>
            <a:srgbClr val="F5F3FF"/>
          </a:solidFill>
          <a:ln w="1905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2956255" cy="4389120"/>
          </a:xfrm>
          <a:prstGeom prst="rect">
            <a:avLst/>
          </a:prstGeom>
          <a:noFill/>
        </p:spPr>
        <p:txBody>
          <a:bodyPr wrap="square">
            <a:spAutoFit/>
          </a:bodyPr>
          <a:lstStyle/>
          <a:p>
            <a:pPr>
              <a:spcAft>
                <a:spcPts val="800"/>
              </a:spcAft>
              <a:defRPr sz="1300" b="1">
                <a:solidFill>
                  <a:srgbClr val="6D28D9"/>
                </a:solidFill>
                <a:latin typeface="Arial"/>
              </a:defRPr>
            </a:pPr>
            <a:r>
              <a:t>The Presenting Symptom</a:t>
            </a:r>
          </a:p>
          <a:p>
            <a:pPr>
              <a:spcAft>
                <a:spcPts val="400"/>
              </a:spcAft>
              <a:defRPr sz="950">
                <a:solidFill>
                  <a:srgbClr val="0F172A"/>
                </a:solidFill>
                <a:latin typeface="Arial"/>
              </a:defRPr>
            </a:pPr>
            <a:r>
              <a:t>Patient 'Baby ❤️' presented with severe mid-back pain that felt internally like a previous ulcer episode. Key mechanical symptom: whenever she sat for a while and attempted to stand, her back locked up in severe pain, preventing her from standing straight.</a:t>
            </a:r>
          </a:p>
        </p:txBody>
      </p:sp>
      <p:sp>
        <p:nvSpPr>
          <p:cNvPr id="7" name="Rounded Rectangle 6"/>
          <p:cNvSpPr/>
          <p:nvPr/>
        </p:nvSpPr>
        <p:spPr>
          <a:xfrm>
            <a:off x="4389120" y="1371600"/>
            <a:ext cx="3413455" cy="4846320"/>
          </a:xfrm>
          <a:prstGeom prst="roundRect">
            <a:avLst/>
          </a:prstGeom>
          <a:solidFill>
            <a:srgbClr val="F5F3FF"/>
          </a:solidFill>
          <a:ln w="1905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600200"/>
            <a:ext cx="2956255" cy="4389120"/>
          </a:xfrm>
          <a:prstGeom prst="rect">
            <a:avLst/>
          </a:prstGeom>
          <a:noFill/>
        </p:spPr>
        <p:txBody>
          <a:bodyPr wrap="square">
            <a:spAutoFit/>
          </a:bodyPr>
          <a:lstStyle/>
          <a:p>
            <a:pPr>
              <a:spcAft>
                <a:spcPts val="800"/>
              </a:spcAft>
              <a:defRPr sz="1300" b="1">
                <a:solidFill>
                  <a:srgbClr val="6D28D9"/>
                </a:solidFill>
                <a:latin typeface="Arial"/>
              </a:defRPr>
            </a:pPr>
            <a:r>
              <a:t>Differential Mechanisms</a:t>
            </a:r>
          </a:p>
          <a:p>
            <a:pPr>
              <a:spcAft>
                <a:spcPts val="400"/>
              </a:spcAft>
              <a:defRPr sz="950">
                <a:solidFill>
                  <a:srgbClr val="0F172A"/>
                </a:solidFill>
                <a:latin typeface="Arial"/>
              </a:defRPr>
            </a:pPr>
            <a:r>
              <a:t>• Referred Gastric Ulcer Pain: Posterior stomach wall lesions refer pain directly to mid-back nerves (T5-T10). Sitting compresses the stomach; standing stretches the wall, triggering locking spasms.</a:t>
            </a:r>
          </a:p>
          <a:p>
            <a:pPr>
              <a:spcAft>
                <a:spcPts val="400"/>
              </a:spcAft>
              <a:defRPr sz="950">
                <a:solidFill>
                  <a:srgbClr val="0F172A"/>
                </a:solidFill>
                <a:latin typeface="Arial"/>
              </a:defRPr>
            </a:pPr>
            <a:r>
              <a:t>• Psoas Muscle Spasm: Shortens when sitting; forced stretch on standing triggers sharp lock.</a:t>
            </a:r>
          </a:p>
          <a:p>
            <a:pPr>
              <a:spcAft>
                <a:spcPts val="400"/>
              </a:spcAft>
              <a:defRPr sz="950">
                <a:solidFill>
                  <a:srgbClr val="0F172A"/>
                </a:solidFill>
                <a:latin typeface="Arial"/>
              </a:defRPr>
            </a:pPr>
            <a:r>
              <a:t>• Biliary / Pancreatic Referral: Deep epigastric ache.</a:t>
            </a:r>
          </a:p>
        </p:txBody>
      </p:sp>
      <p:sp>
        <p:nvSpPr>
          <p:cNvPr id="9" name="Rounded Rectangle 8"/>
          <p:cNvSpPr/>
          <p:nvPr/>
        </p:nvSpPr>
        <p:spPr>
          <a:xfrm>
            <a:off x="8046720" y="1371600"/>
            <a:ext cx="3413455" cy="4846320"/>
          </a:xfrm>
          <a:prstGeom prst="roundRect">
            <a:avLst/>
          </a:prstGeom>
          <a:solidFill>
            <a:srgbClr val="F5F3FF"/>
          </a:solidFill>
          <a:ln w="1905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600200"/>
            <a:ext cx="2956255" cy="4389120"/>
          </a:xfrm>
          <a:prstGeom prst="rect">
            <a:avLst/>
          </a:prstGeom>
          <a:noFill/>
        </p:spPr>
        <p:txBody>
          <a:bodyPr wrap="square">
            <a:spAutoFit/>
          </a:bodyPr>
          <a:lstStyle/>
          <a:p>
            <a:pPr>
              <a:spcAft>
                <a:spcPts val="800"/>
              </a:spcAft>
              <a:defRPr sz="1300" b="1">
                <a:solidFill>
                  <a:srgbClr val="6D28D9"/>
                </a:solidFill>
                <a:latin typeface="Arial"/>
              </a:defRPr>
            </a:pPr>
            <a:r>
              <a:t>Pre-Consultation Safety Directives</a:t>
            </a:r>
          </a:p>
          <a:p>
            <a:pPr>
              <a:spcAft>
                <a:spcPts val="400"/>
              </a:spcAft>
              <a:defRPr sz="950">
                <a:solidFill>
                  <a:srgbClr val="0F172A"/>
                </a:solidFill>
                <a:latin typeface="Arial"/>
              </a:defRPr>
            </a:pPr>
            <a:r>
              <a:t>• STRICTLY AVOID NSAIDs: Zero Ibuprofen, Diclofenac, Feldene, Aspirin (avoids gastric hemorrhage).</a:t>
            </a:r>
          </a:p>
          <a:p>
            <a:pPr>
              <a:spcAft>
                <a:spcPts val="400"/>
              </a:spcAft>
              <a:defRPr sz="950">
                <a:solidFill>
                  <a:srgbClr val="0F172A"/>
                </a:solidFill>
                <a:latin typeface="Arial"/>
              </a:defRPr>
            </a:pPr>
            <a:r>
              <a:t>• SAFE OTC OPTION: Plain Paracetamol (Acetaminophen) as the sole safe pain reliever.</a:t>
            </a:r>
          </a:p>
          <a:p>
            <a:pPr>
              <a:spcAft>
                <a:spcPts val="400"/>
              </a:spcAft>
              <a:defRPr sz="950">
                <a:solidFill>
                  <a:srgbClr val="0F172A"/>
                </a:solidFill>
                <a:latin typeface="Arial"/>
              </a:defRPr>
            </a:pPr>
            <a:r>
              <a:t>• ERGONOMIC CARE: Sip warm water, avoid peppery food, brace on chair edge and stand gradually.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4C1D95"/>
          </a:solidFill>
          <a:ln>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D8B4FE"/>
                </a:solidFill>
                <a:latin typeface="Arial"/>
              </a:defRPr>
            </a:pPr>
            <a:r>
              <a:t>ENGINEERING SPECIFICATIONS</a:t>
            </a:r>
          </a:p>
        </p:txBody>
      </p:sp>
      <p:sp>
        <p:nvSpPr>
          <p:cNvPr id="4" name="TextBox 3"/>
          <p:cNvSpPr txBox="1"/>
          <p:nvPr/>
        </p:nvSpPr>
        <p:spPr>
          <a:xfrm>
            <a:off x="731520" y="365760"/>
            <a:ext cx="10698480" cy="594360"/>
          </a:xfrm>
          <a:prstGeom prst="rect">
            <a:avLst/>
          </a:prstGeom>
          <a:noFill/>
        </p:spPr>
        <p:txBody>
          <a:bodyPr wrap="square">
            <a:spAutoFit/>
          </a:bodyPr>
          <a:lstStyle/>
          <a:p>
            <a:pPr>
              <a:defRPr sz="2000" b="1">
                <a:solidFill>
                  <a:srgbClr val="FFFFFF"/>
                </a:solidFill>
                <a:latin typeface="Arial"/>
              </a:defRPr>
            </a:pPr>
            <a:r>
              <a:t>Multi-Tier Software Architecture &amp; Technology Stack</a:t>
            </a:r>
          </a:p>
        </p:txBody>
      </p:sp>
      <p:sp>
        <p:nvSpPr>
          <p:cNvPr id="5" name="Rounded Rectangle 4"/>
          <p:cNvSpPr/>
          <p:nvPr/>
        </p:nvSpPr>
        <p:spPr>
          <a:xfrm>
            <a:off x="731520" y="1371600"/>
            <a:ext cx="2468880" cy="484632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2103120" cy="4389120"/>
          </a:xfrm>
          <a:prstGeom prst="rect">
            <a:avLst/>
          </a:prstGeom>
          <a:noFill/>
        </p:spPr>
        <p:txBody>
          <a:bodyPr wrap="square">
            <a:spAutoFit/>
          </a:bodyPr>
          <a:lstStyle/>
          <a:p>
            <a:pPr>
              <a:spcAft>
                <a:spcPts val="1200"/>
              </a:spcAft>
              <a:defRPr sz="1300" b="1">
                <a:solidFill>
                  <a:srgbClr val="4C1D95"/>
                </a:solidFill>
                <a:latin typeface="Arial"/>
              </a:defRPr>
            </a:pPr>
            <a:r>
              <a:t>Presentation Layer</a:t>
            </a:r>
          </a:p>
          <a:p>
            <a:pPr>
              <a:spcAft>
                <a:spcPts val="600"/>
              </a:spcAft>
              <a:defRPr sz="1000">
                <a:solidFill>
                  <a:srgbClr val="0F172A"/>
                </a:solidFill>
                <a:latin typeface="Arial"/>
              </a:defRPr>
            </a:pPr>
            <a:r>
              <a:t>• React 18 SPA + Vite</a:t>
            </a:r>
          </a:p>
          <a:p>
            <a:pPr>
              <a:spcAft>
                <a:spcPts val="600"/>
              </a:spcAft>
              <a:defRPr sz="1000">
                <a:solidFill>
                  <a:srgbClr val="0F172A"/>
                </a:solidFill>
                <a:latin typeface="Arial"/>
              </a:defRPr>
            </a:pPr>
            <a:r>
              <a:t>• Tailwind CSS Custom Design</a:t>
            </a:r>
          </a:p>
          <a:p>
            <a:pPr>
              <a:spcAft>
                <a:spcPts val="600"/>
              </a:spcAft>
              <a:defRPr sz="1000">
                <a:solidFill>
                  <a:srgbClr val="0F172A"/>
                </a:solidFill>
                <a:latin typeface="Arial"/>
              </a:defRPr>
            </a:pPr>
            <a:r>
              <a:t>• Zustand State Management</a:t>
            </a:r>
          </a:p>
          <a:p>
            <a:pPr>
              <a:spcAft>
                <a:spcPts val="600"/>
              </a:spcAft>
              <a:defRPr sz="1000">
                <a:solidFill>
                  <a:srgbClr val="0F172A"/>
                </a:solidFill>
                <a:latin typeface="Arial"/>
              </a:defRPr>
            </a:pPr>
            <a:r>
              <a:t>• Clean Markdown Parser (No # Tags)</a:t>
            </a:r>
          </a:p>
        </p:txBody>
      </p:sp>
      <p:sp>
        <p:nvSpPr>
          <p:cNvPr id="7" name="Rounded Rectangle 6"/>
          <p:cNvSpPr/>
          <p:nvPr/>
        </p:nvSpPr>
        <p:spPr>
          <a:xfrm>
            <a:off x="3474720" y="1371600"/>
            <a:ext cx="2468880" cy="484632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600200"/>
            <a:ext cx="2103120" cy="4389120"/>
          </a:xfrm>
          <a:prstGeom prst="rect">
            <a:avLst/>
          </a:prstGeom>
          <a:noFill/>
        </p:spPr>
        <p:txBody>
          <a:bodyPr wrap="square">
            <a:spAutoFit/>
          </a:bodyPr>
          <a:lstStyle/>
          <a:p>
            <a:pPr>
              <a:spcAft>
                <a:spcPts val="1200"/>
              </a:spcAft>
              <a:defRPr sz="1300" b="1">
                <a:solidFill>
                  <a:srgbClr val="4C1D95"/>
                </a:solidFill>
                <a:latin typeface="Arial"/>
              </a:defRPr>
            </a:pPr>
            <a:r>
              <a:t>API &amp; Gateway</a:t>
            </a:r>
          </a:p>
          <a:p>
            <a:pPr>
              <a:spcAft>
                <a:spcPts val="600"/>
              </a:spcAft>
              <a:defRPr sz="1000">
                <a:solidFill>
                  <a:srgbClr val="0F172A"/>
                </a:solidFill>
                <a:latin typeface="Arial"/>
              </a:defRPr>
            </a:pPr>
            <a:r>
              <a:t>• Django 6.1 + DRF</a:t>
            </a:r>
          </a:p>
          <a:p>
            <a:pPr>
              <a:spcAft>
                <a:spcPts val="600"/>
              </a:spcAft>
              <a:defRPr sz="1000">
                <a:solidFill>
                  <a:srgbClr val="0F172A"/>
                </a:solidFill>
                <a:latin typeface="Arial"/>
              </a:defRPr>
            </a:pPr>
            <a:r>
              <a:t>• Daphne ASGI Server</a:t>
            </a:r>
          </a:p>
          <a:p>
            <a:pPr>
              <a:spcAft>
                <a:spcPts val="600"/>
              </a:spcAft>
              <a:defRPr sz="1000">
                <a:solidFill>
                  <a:srgbClr val="0F172A"/>
                </a:solidFill>
                <a:latin typeface="Arial"/>
              </a:defRPr>
            </a:pPr>
            <a:r>
              <a:t>• JWT Bearer Authentication</a:t>
            </a:r>
          </a:p>
          <a:p>
            <a:pPr>
              <a:spcAft>
                <a:spcPts val="600"/>
              </a:spcAft>
              <a:defRPr sz="1000">
                <a:solidFill>
                  <a:srgbClr val="0F172A"/>
                </a:solidFill>
                <a:latin typeface="Arial"/>
              </a:defRPr>
            </a:pPr>
            <a:r>
              <a:t>• Role-Based Access Control</a:t>
            </a:r>
          </a:p>
        </p:txBody>
      </p:sp>
      <p:sp>
        <p:nvSpPr>
          <p:cNvPr id="9" name="Rounded Rectangle 8"/>
          <p:cNvSpPr/>
          <p:nvPr/>
        </p:nvSpPr>
        <p:spPr>
          <a:xfrm>
            <a:off x="6217920" y="1371600"/>
            <a:ext cx="2468880" cy="484632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2103120" cy="4389120"/>
          </a:xfrm>
          <a:prstGeom prst="rect">
            <a:avLst/>
          </a:prstGeom>
          <a:noFill/>
        </p:spPr>
        <p:txBody>
          <a:bodyPr wrap="square">
            <a:spAutoFit/>
          </a:bodyPr>
          <a:lstStyle/>
          <a:p>
            <a:pPr>
              <a:spcAft>
                <a:spcPts val="1200"/>
              </a:spcAft>
              <a:defRPr sz="1300" b="1">
                <a:solidFill>
                  <a:srgbClr val="4C1D95"/>
                </a:solidFill>
                <a:latin typeface="Arial"/>
              </a:defRPr>
            </a:pPr>
            <a:r>
              <a:t>Asynchronous Engine</a:t>
            </a:r>
          </a:p>
          <a:p>
            <a:pPr>
              <a:spcAft>
                <a:spcPts val="600"/>
              </a:spcAft>
              <a:defRPr sz="1000">
                <a:solidFill>
                  <a:srgbClr val="0F172A"/>
                </a:solidFill>
                <a:latin typeface="Arial"/>
              </a:defRPr>
            </a:pPr>
            <a:r>
              <a:t>• Django Channels 4.3</a:t>
            </a:r>
          </a:p>
          <a:p>
            <a:pPr>
              <a:spcAft>
                <a:spcPts val="600"/>
              </a:spcAft>
              <a:defRPr sz="1000">
                <a:solidFill>
                  <a:srgbClr val="0F172A"/>
                </a:solidFill>
                <a:latin typeface="Arial"/>
              </a:defRPr>
            </a:pPr>
            <a:r>
              <a:t>• Bidirectional WebSockets</a:t>
            </a:r>
          </a:p>
          <a:p>
            <a:pPr>
              <a:spcAft>
                <a:spcPts val="600"/>
              </a:spcAft>
              <a:defRPr sz="1000">
                <a:solidFill>
                  <a:srgbClr val="0F172A"/>
                </a:solidFill>
                <a:latin typeface="Arial"/>
              </a:defRPr>
            </a:pPr>
            <a:r>
              <a:t>• Encrypted WhatsApp Messenger</a:t>
            </a:r>
          </a:p>
          <a:p>
            <a:pPr>
              <a:spcAft>
                <a:spcPts val="600"/>
              </a:spcAft>
              <a:defRPr sz="1000">
                <a:solidFill>
                  <a:srgbClr val="0F172A"/>
                </a:solidFill>
                <a:latin typeface="Arial"/>
              </a:defRPr>
            </a:pPr>
            <a:r>
              <a:t>• Live Triage Broadcasting</a:t>
            </a:r>
          </a:p>
        </p:txBody>
      </p:sp>
      <p:sp>
        <p:nvSpPr>
          <p:cNvPr id="11" name="Rounded Rectangle 10"/>
          <p:cNvSpPr/>
          <p:nvPr/>
        </p:nvSpPr>
        <p:spPr>
          <a:xfrm>
            <a:off x="8961120" y="1371600"/>
            <a:ext cx="2468880" cy="484632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0" y="1600200"/>
            <a:ext cx="2103120" cy="4389120"/>
          </a:xfrm>
          <a:prstGeom prst="rect">
            <a:avLst/>
          </a:prstGeom>
          <a:noFill/>
        </p:spPr>
        <p:txBody>
          <a:bodyPr wrap="square">
            <a:spAutoFit/>
          </a:bodyPr>
          <a:lstStyle/>
          <a:p>
            <a:pPr>
              <a:spcAft>
                <a:spcPts val="1200"/>
              </a:spcAft>
              <a:defRPr sz="1300" b="1">
                <a:solidFill>
                  <a:srgbClr val="4C1D95"/>
                </a:solidFill>
                <a:latin typeface="Arial"/>
              </a:defRPr>
            </a:pPr>
            <a:r>
              <a:t>Persistence &amp; Media</a:t>
            </a:r>
          </a:p>
          <a:p>
            <a:pPr>
              <a:spcAft>
                <a:spcPts val="600"/>
              </a:spcAft>
              <a:defRPr sz="1000">
                <a:solidFill>
                  <a:srgbClr val="0F172A"/>
                </a:solidFill>
                <a:latin typeface="Arial"/>
              </a:defRPr>
            </a:pPr>
            <a:r>
              <a:t>• Relational Database Schema</a:t>
            </a:r>
          </a:p>
          <a:p>
            <a:pPr>
              <a:spcAft>
                <a:spcPts val="600"/>
              </a:spcAft>
              <a:defRPr sz="1000">
                <a:solidFill>
                  <a:srgbClr val="0F172A"/>
                </a:solidFill>
                <a:latin typeface="Arial"/>
              </a:defRPr>
            </a:pPr>
            <a:r>
              <a:t>• JSONB Clinical Payloads</a:t>
            </a:r>
          </a:p>
          <a:p>
            <a:pPr>
              <a:spcAft>
                <a:spcPts val="600"/>
              </a:spcAft>
              <a:defRPr sz="1000">
                <a:solidFill>
                  <a:srgbClr val="0F172A"/>
                </a:solidFill>
                <a:latin typeface="Arial"/>
              </a:defRPr>
            </a:pPr>
            <a:r>
              <a:t>• Encrypted File Storage</a:t>
            </a:r>
          </a:p>
          <a:p>
            <a:pPr>
              <a:spcAft>
                <a:spcPts val="600"/>
              </a:spcAft>
              <a:defRPr sz="1000">
                <a:solidFill>
                  <a:srgbClr val="0F172A"/>
                </a:solidFill>
                <a:latin typeface="Arial"/>
              </a:defRPr>
            </a:pPr>
            <a:r>
              <a:t>• Direct MP4/WebM Video Stream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4C1D95"/>
          </a:solidFill>
          <a:ln>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D8B4FE"/>
                </a:solidFill>
                <a:latin typeface="Arial"/>
              </a:defRPr>
            </a:pPr>
            <a:r>
              <a:t>CLINICAL COMMUNICATION</a:t>
            </a:r>
          </a:p>
        </p:txBody>
      </p:sp>
      <p:sp>
        <p:nvSpPr>
          <p:cNvPr id="4" name="TextBox 3"/>
          <p:cNvSpPr txBox="1"/>
          <p:nvPr/>
        </p:nvSpPr>
        <p:spPr>
          <a:xfrm>
            <a:off x="731520" y="365760"/>
            <a:ext cx="10698480" cy="594360"/>
          </a:xfrm>
          <a:prstGeom prst="rect">
            <a:avLst/>
          </a:prstGeom>
          <a:noFill/>
        </p:spPr>
        <p:txBody>
          <a:bodyPr wrap="square">
            <a:spAutoFit/>
          </a:bodyPr>
          <a:lstStyle/>
          <a:p>
            <a:pPr>
              <a:defRPr sz="2000" b="1">
                <a:solidFill>
                  <a:srgbClr val="FFFFFF"/>
                </a:solidFill>
                <a:latin typeface="Arial"/>
              </a:defRPr>
            </a:pPr>
            <a:r>
              <a:t>WhatsApp-Grade 256-Bit Encrypted Clinical Consultation Messenger</a:t>
            </a:r>
          </a:p>
        </p:txBody>
      </p:sp>
      <p:sp>
        <p:nvSpPr>
          <p:cNvPr id="5" name="Rounded Rectangle 4"/>
          <p:cNvSpPr/>
          <p:nvPr/>
        </p:nvSpPr>
        <p:spPr>
          <a:xfrm>
            <a:off x="731520" y="1371600"/>
            <a:ext cx="3413455" cy="484632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2956255" cy="4389120"/>
          </a:xfrm>
          <a:prstGeom prst="rect">
            <a:avLst/>
          </a:prstGeom>
          <a:noFill/>
        </p:spPr>
        <p:txBody>
          <a:bodyPr wrap="square">
            <a:spAutoFit/>
          </a:bodyPr>
          <a:lstStyle/>
          <a:p>
            <a:pPr>
              <a:spcAft>
                <a:spcPts val="1000"/>
              </a:spcAft>
              <a:defRPr sz="1300" b="1">
                <a:solidFill>
                  <a:srgbClr val="4C1D95"/>
                </a:solidFill>
                <a:latin typeface="Arial"/>
              </a:defRPr>
            </a:pPr>
            <a:r>
              <a:t>256-Bit End-to-End Encryption Banner</a:t>
            </a:r>
          </a:p>
          <a:p>
            <a:pPr>
              <a:spcAft>
                <a:spcPts val="400"/>
              </a:spcAft>
              <a:defRPr sz="1000">
                <a:solidFill>
                  <a:srgbClr val="0F172A"/>
                </a:solidFill>
                <a:latin typeface="Arial"/>
              </a:defRPr>
            </a:pPr>
            <a:r>
              <a:t>Ensures compliance with HIPAA and GDPR medical privacy standards. Patients and clinicians communicate over authenticated channels with complete confidentiality.</a:t>
            </a:r>
          </a:p>
        </p:txBody>
      </p:sp>
      <p:sp>
        <p:nvSpPr>
          <p:cNvPr id="7" name="Rounded Rectangle 6"/>
          <p:cNvSpPr/>
          <p:nvPr/>
        </p:nvSpPr>
        <p:spPr>
          <a:xfrm>
            <a:off x="4389120" y="1371600"/>
            <a:ext cx="3413455" cy="484632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600200"/>
            <a:ext cx="2956255" cy="4389120"/>
          </a:xfrm>
          <a:prstGeom prst="rect">
            <a:avLst/>
          </a:prstGeom>
          <a:noFill/>
        </p:spPr>
        <p:txBody>
          <a:bodyPr wrap="square">
            <a:spAutoFit/>
          </a:bodyPr>
          <a:lstStyle/>
          <a:p>
            <a:pPr>
              <a:spcAft>
                <a:spcPts val="1000"/>
              </a:spcAft>
              <a:defRPr sz="1300" b="1">
                <a:solidFill>
                  <a:srgbClr val="4C1D95"/>
                </a:solidFill>
                <a:latin typeface="Arial"/>
              </a:defRPr>
            </a:pPr>
            <a:r>
              <a:t>Double Blue Checkmarks (Read Receipts)</a:t>
            </a:r>
          </a:p>
          <a:p>
            <a:pPr>
              <a:spcAft>
                <a:spcPts val="400"/>
              </a:spcAft>
              <a:defRPr sz="1000">
                <a:solidFill>
                  <a:srgbClr val="0F172A"/>
                </a:solidFill>
                <a:latin typeface="Arial"/>
              </a:defRPr>
            </a:pPr>
            <a:r>
              <a:t>Real-time message status indicators (CheckCheck icon) confirm instant transmission, delivery, and review by the attending medical specialist.</a:t>
            </a:r>
          </a:p>
        </p:txBody>
      </p:sp>
      <p:sp>
        <p:nvSpPr>
          <p:cNvPr id="9" name="Rounded Rectangle 8"/>
          <p:cNvSpPr/>
          <p:nvPr/>
        </p:nvSpPr>
        <p:spPr>
          <a:xfrm>
            <a:off x="8046720" y="1371600"/>
            <a:ext cx="3413455" cy="484632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600200"/>
            <a:ext cx="2956255" cy="4389120"/>
          </a:xfrm>
          <a:prstGeom prst="rect">
            <a:avLst/>
          </a:prstGeom>
          <a:noFill/>
        </p:spPr>
        <p:txBody>
          <a:bodyPr wrap="square">
            <a:spAutoFit/>
          </a:bodyPr>
          <a:lstStyle/>
          <a:p>
            <a:pPr>
              <a:spcAft>
                <a:spcPts val="1000"/>
              </a:spcAft>
              <a:defRPr sz="1300" b="1">
                <a:solidFill>
                  <a:srgbClr val="4C1D95"/>
                </a:solidFill>
                <a:latin typeface="Arial"/>
              </a:defRPr>
            </a:pPr>
            <a:r>
              <a:t>1-Click Clinical Triage Sharing &amp; Video Launch</a:t>
            </a:r>
          </a:p>
          <a:p>
            <a:pPr>
              <a:spcAft>
                <a:spcPts val="400"/>
              </a:spcAft>
              <a:defRPr sz="1000">
                <a:solidFill>
                  <a:srgbClr val="0F172A"/>
                </a:solidFill>
                <a:latin typeface="Arial"/>
              </a:defRPr>
            </a:pPr>
            <a:r>
              <a:t>Patients can transmit their AI symptom assessment directly into the chat thread with one click. The chat header includes a direct 'Video Call' button to launch the WebRTC teleconsultation room instantly.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4C1D95"/>
          </a:solidFill>
          <a:ln>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D8B4FE"/>
                </a:solidFill>
                <a:latin typeface="Arial"/>
              </a:defRPr>
            </a:pPr>
            <a:r>
              <a:t>SOCIAL ENGAGEMENT &amp; EDUCATION</a:t>
            </a:r>
          </a:p>
        </p:txBody>
      </p:sp>
      <p:sp>
        <p:nvSpPr>
          <p:cNvPr id="4" name="TextBox 3"/>
          <p:cNvSpPr txBox="1"/>
          <p:nvPr/>
        </p:nvSpPr>
        <p:spPr>
          <a:xfrm>
            <a:off x="731520" y="365760"/>
            <a:ext cx="10698480" cy="594360"/>
          </a:xfrm>
          <a:prstGeom prst="rect">
            <a:avLst/>
          </a:prstGeom>
          <a:noFill/>
        </p:spPr>
        <p:txBody>
          <a:bodyPr wrap="square">
            <a:spAutoFit/>
          </a:bodyPr>
          <a:lstStyle/>
          <a:p>
            <a:pPr>
              <a:defRPr sz="2000" b="1">
                <a:solidFill>
                  <a:srgbClr val="FFFFFF"/>
                </a:solidFill>
                <a:latin typeface="Arial"/>
              </a:defRPr>
            </a:pPr>
            <a:r>
              <a:t>Flo-Inspired Verified Medical Creator &amp; Video Demonstration Hub</a:t>
            </a:r>
          </a:p>
        </p:txBody>
      </p:sp>
      <p:sp>
        <p:nvSpPr>
          <p:cNvPr id="5" name="Rounded Rectangle 4"/>
          <p:cNvSpPr/>
          <p:nvPr/>
        </p:nvSpPr>
        <p:spPr>
          <a:xfrm>
            <a:off x="731520" y="1371600"/>
            <a:ext cx="3413455" cy="4846320"/>
          </a:xfrm>
          <a:prstGeom prst="roundRect">
            <a:avLst/>
          </a:prstGeom>
          <a:solidFill>
            <a:srgbClr val="F5F3FF"/>
          </a:solidFill>
          <a:ln w="1905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2956255" cy="4389120"/>
          </a:xfrm>
          <a:prstGeom prst="rect">
            <a:avLst/>
          </a:prstGeom>
          <a:noFill/>
        </p:spPr>
        <p:txBody>
          <a:bodyPr wrap="square">
            <a:spAutoFit/>
          </a:bodyPr>
          <a:lstStyle/>
          <a:p>
            <a:pPr>
              <a:spcAft>
                <a:spcPts val="800"/>
              </a:spcAft>
              <a:defRPr sz="1300" b="1">
                <a:solidFill>
                  <a:srgbClr val="6D28D9"/>
                </a:solidFill>
                <a:latin typeface="Arial"/>
              </a:defRPr>
            </a:pPr>
            <a:r>
              <a:t>Doctor Video Demonstrations</a:t>
            </a:r>
          </a:p>
          <a:p>
            <a:pPr>
              <a:spcAft>
                <a:spcPts val="400"/>
              </a:spcAft>
              <a:defRPr sz="950">
                <a:solidFill>
                  <a:srgbClr val="0F172A"/>
                </a:solidFill>
                <a:latin typeface="Arial"/>
              </a:defRPr>
            </a:pPr>
            <a:r>
              <a:t>Doctors can upload MP4/WebM video demonstrations directly from their devices—showing correct blood pressure measurement, physical therapy exercises, and dietary protocols for patients to watch on demand.</a:t>
            </a:r>
          </a:p>
        </p:txBody>
      </p:sp>
      <p:sp>
        <p:nvSpPr>
          <p:cNvPr id="7" name="Rounded Rectangle 6"/>
          <p:cNvSpPr/>
          <p:nvPr/>
        </p:nvSpPr>
        <p:spPr>
          <a:xfrm>
            <a:off x="4389120" y="1371600"/>
            <a:ext cx="3413455" cy="4846320"/>
          </a:xfrm>
          <a:prstGeom prst="roundRect">
            <a:avLst/>
          </a:prstGeom>
          <a:solidFill>
            <a:srgbClr val="F5F3FF"/>
          </a:solidFill>
          <a:ln w="1905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600200"/>
            <a:ext cx="2956255" cy="4389120"/>
          </a:xfrm>
          <a:prstGeom prst="rect">
            <a:avLst/>
          </a:prstGeom>
          <a:noFill/>
        </p:spPr>
        <p:txBody>
          <a:bodyPr wrap="square">
            <a:spAutoFit/>
          </a:bodyPr>
          <a:lstStyle/>
          <a:p>
            <a:pPr>
              <a:spcAft>
                <a:spcPts val="800"/>
              </a:spcAft>
              <a:defRPr sz="1300" b="1">
                <a:solidFill>
                  <a:srgbClr val="6D28D9"/>
                </a:solidFill>
                <a:latin typeface="Arial"/>
              </a:defRPr>
            </a:pPr>
            <a:r>
              <a:t>Clean Typography (No Raw # Hashtags)</a:t>
            </a:r>
          </a:p>
          <a:p>
            <a:pPr>
              <a:spcAft>
                <a:spcPts val="400"/>
              </a:spcAft>
              <a:defRPr sz="950">
                <a:solidFill>
                  <a:srgbClr val="0F172A"/>
                </a:solidFill>
                <a:latin typeface="Arial"/>
              </a:defRPr>
            </a:pPr>
            <a:r>
              <a:t>The article reader transforms raw clinical markdown into clean, magazine-grade typography: styled purple section headers, structured bullet lists, and highlighted clinical pearl cards.</a:t>
            </a:r>
          </a:p>
        </p:txBody>
      </p:sp>
      <p:sp>
        <p:nvSpPr>
          <p:cNvPr id="9" name="Rounded Rectangle 8"/>
          <p:cNvSpPr/>
          <p:nvPr/>
        </p:nvSpPr>
        <p:spPr>
          <a:xfrm>
            <a:off x="8046720" y="1371600"/>
            <a:ext cx="3413455" cy="4846320"/>
          </a:xfrm>
          <a:prstGeom prst="roundRect">
            <a:avLst/>
          </a:prstGeom>
          <a:solidFill>
            <a:srgbClr val="F5F3FF"/>
          </a:solidFill>
          <a:ln w="1905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600200"/>
            <a:ext cx="2956255" cy="4389120"/>
          </a:xfrm>
          <a:prstGeom prst="rect">
            <a:avLst/>
          </a:prstGeom>
          <a:noFill/>
        </p:spPr>
        <p:txBody>
          <a:bodyPr wrap="square">
            <a:spAutoFit/>
          </a:bodyPr>
          <a:lstStyle/>
          <a:p>
            <a:pPr>
              <a:spcAft>
                <a:spcPts val="800"/>
              </a:spcAft>
              <a:defRPr sz="1300" b="1">
                <a:solidFill>
                  <a:srgbClr val="6D28D9"/>
                </a:solidFill>
                <a:latin typeface="Arial"/>
              </a:defRPr>
            </a:pPr>
            <a:r>
              <a:t>Strict Creator Gating &amp; Monetization</a:t>
            </a:r>
          </a:p>
          <a:p>
            <a:pPr>
              <a:spcAft>
                <a:spcPts val="400"/>
              </a:spcAft>
              <a:defRPr sz="950">
                <a:solidFill>
                  <a:srgbClr val="0F172A"/>
                </a:solidFill>
                <a:latin typeface="Arial"/>
              </a:defRPr>
            </a:pPr>
            <a:r>
              <a:t>Only approved doctors and verified wellness specialists have permission to publish. The Creator Studio provides private analytics ($0.02/read view, $0.05/like) and direct bank payout configuration.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4C1D95"/>
          </a:solidFill>
          <a:ln>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000" b="1">
                <a:solidFill>
                  <a:srgbClr val="D8B4FE"/>
                </a:solidFill>
                <a:latin typeface="Arial"/>
              </a:defRPr>
            </a:pPr>
            <a:r>
              <a:t>GOVERNANCE &amp; QUALITY CONTROL</a:t>
            </a:r>
          </a:p>
        </p:txBody>
      </p:sp>
      <p:sp>
        <p:nvSpPr>
          <p:cNvPr id="4" name="TextBox 3"/>
          <p:cNvSpPr txBox="1"/>
          <p:nvPr/>
        </p:nvSpPr>
        <p:spPr>
          <a:xfrm>
            <a:off x="731520" y="365760"/>
            <a:ext cx="10698480" cy="594360"/>
          </a:xfrm>
          <a:prstGeom prst="rect">
            <a:avLst/>
          </a:prstGeom>
          <a:noFill/>
        </p:spPr>
        <p:txBody>
          <a:bodyPr wrap="square">
            <a:spAutoFit/>
          </a:bodyPr>
          <a:lstStyle/>
          <a:p>
            <a:pPr>
              <a:defRPr sz="2000" b="1">
                <a:solidFill>
                  <a:srgbClr val="FFFFFF"/>
                </a:solidFill>
                <a:latin typeface="Arial"/>
              </a:defRPr>
            </a:pPr>
            <a:r>
              <a:t>Medical Board Credential Verification &amp; Administrative Audit Portal</a:t>
            </a:r>
          </a:p>
        </p:txBody>
      </p:sp>
      <p:sp>
        <p:nvSpPr>
          <p:cNvPr id="5" name="Rounded Rectangle 4"/>
          <p:cNvSpPr/>
          <p:nvPr/>
        </p:nvSpPr>
        <p:spPr>
          <a:xfrm>
            <a:off x="731520" y="1371600"/>
            <a:ext cx="3413455" cy="484632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2956255" cy="4389120"/>
          </a:xfrm>
          <a:prstGeom prst="rect">
            <a:avLst/>
          </a:prstGeom>
          <a:noFill/>
        </p:spPr>
        <p:txBody>
          <a:bodyPr wrap="square">
            <a:spAutoFit/>
          </a:bodyPr>
          <a:lstStyle/>
          <a:p>
            <a:pPr>
              <a:spcAft>
                <a:spcPts val="1000"/>
              </a:spcAft>
              <a:defRPr sz="1300" b="1">
                <a:solidFill>
                  <a:srgbClr val="4C1D95"/>
                </a:solidFill>
                <a:latin typeface="Arial"/>
              </a:defRPr>
            </a:pPr>
            <a:r>
              <a:t>Doctor Verification Portal</a:t>
            </a:r>
          </a:p>
          <a:p>
            <a:pPr>
              <a:spcAft>
                <a:spcPts val="400"/>
              </a:spcAft>
              <a:defRPr sz="1000">
                <a:solidFill>
                  <a:srgbClr val="0F172A"/>
                </a:solidFill>
                <a:latin typeface="Arial"/>
              </a:defRPr>
            </a:pPr>
            <a:r>
              <a:t>Doctors upload their official Medical Practicing Licence, MBBS/MD Certificate, and Government-Issued ID directly in their dashboard. Status remains 'In Review' until authorized.</a:t>
            </a:r>
          </a:p>
        </p:txBody>
      </p:sp>
      <p:sp>
        <p:nvSpPr>
          <p:cNvPr id="7" name="Rounded Rectangle 6"/>
          <p:cNvSpPr/>
          <p:nvPr/>
        </p:nvSpPr>
        <p:spPr>
          <a:xfrm>
            <a:off x="4389120" y="1371600"/>
            <a:ext cx="3413455" cy="484632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600200"/>
            <a:ext cx="2956255" cy="4389120"/>
          </a:xfrm>
          <a:prstGeom prst="rect">
            <a:avLst/>
          </a:prstGeom>
          <a:noFill/>
        </p:spPr>
        <p:txBody>
          <a:bodyPr wrap="square">
            <a:spAutoFit/>
          </a:bodyPr>
          <a:lstStyle/>
          <a:p>
            <a:pPr>
              <a:spcAft>
                <a:spcPts val="1000"/>
              </a:spcAft>
              <a:defRPr sz="1300" b="1">
                <a:solidFill>
                  <a:srgbClr val="4C1D95"/>
                </a:solidFill>
                <a:latin typeface="Arial"/>
              </a:defRPr>
            </a:pPr>
            <a:r>
              <a:t>Admin Credential Inspection Modal</a:t>
            </a:r>
          </a:p>
          <a:p>
            <a:pPr>
              <a:spcAft>
                <a:spcPts val="400"/>
              </a:spcAft>
              <a:defRPr sz="1000">
                <a:solidFill>
                  <a:srgbClr val="0F172A"/>
                </a:solidFill>
                <a:latin typeface="Arial"/>
              </a:defRPr>
            </a:pPr>
            <a:r>
              <a:t>Platform administrators inspect submitted documents via a dedicated audit modal—verifying licence numbers, document types, and issuing dates before approving practice rights.</a:t>
            </a:r>
          </a:p>
        </p:txBody>
      </p:sp>
      <p:sp>
        <p:nvSpPr>
          <p:cNvPr id="9" name="Rounded Rectangle 8"/>
          <p:cNvSpPr/>
          <p:nvPr/>
        </p:nvSpPr>
        <p:spPr>
          <a:xfrm>
            <a:off x="8046720" y="1371600"/>
            <a:ext cx="3413455" cy="484632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600200"/>
            <a:ext cx="2956255" cy="4389120"/>
          </a:xfrm>
          <a:prstGeom prst="rect">
            <a:avLst/>
          </a:prstGeom>
          <a:noFill/>
        </p:spPr>
        <p:txBody>
          <a:bodyPr wrap="square">
            <a:spAutoFit/>
          </a:bodyPr>
          <a:lstStyle/>
          <a:p>
            <a:pPr>
              <a:spcAft>
                <a:spcPts val="1000"/>
              </a:spcAft>
              <a:defRPr sz="1300" b="1">
                <a:solidFill>
                  <a:srgbClr val="4C1D95"/>
                </a:solidFill>
                <a:latin typeface="Arial"/>
              </a:defRPr>
            </a:pPr>
            <a:r>
              <a:t>1-Click Approval &amp; Revocation</a:t>
            </a:r>
          </a:p>
          <a:p>
            <a:pPr>
              <a:spcAft>
                <a:spcPts val="400"/>
              </a:spcAft>
              <a:defRPr sz="1000">
                <a:solidFill>
                  <a:srgbClr val="0F172A"/>
                </a:solidFill>
                <a:latin typeface="Arial"/>
              </a:defRPr>
            </a:pPr>
            <a:r>
              <a:t>Administrators can approve verified doctors with a single click (granting consultation, video, and publishing permissions) or revoke access instantly if credentials lapse.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914400"/>
            <a:ext cx="9997135" cy="502920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280160"/>
            <a:ext cx="8899855" cy="4297680"/>
          </a:xfrm>
          <a:prstGeom prst="rect">
            <a:avLst/>
          </a:prstGeom>
          <a:noFill/>
        </p:spPr>
        <p:txBody>
          <a:bodyPr wrap="square">
            <a:spAutoFit/>
          </a:bodyPr>
          <a:lstStyle/>
          <a:p>
            <a:pPr>
              <a:defRPr sz="1200" b="1">
                <a:solidFill>
                  <a:srgbClr val="6D28D9"/>
                </a:solidFill>
                <a:latin typeface="Arial"/>
              </a:defRPr>
            </a:pPr>
            <a:r>
              <a:t>EXECUTIVE SUMMARY &amp; DEMONSTRATION READINESS</a:t>
            </a:r>
          </a:p>
          <a:p>
            <a:pPr>
              <a:spcBef>
                <a:spcPts val="600"/>
              </a:spcBef>
              <a:spcAft>
                <a:spcPts val="1200"/>
              </a:spcAft>
              <a:defRPr sz="2600" b="1">
                <a:solidFill>
                  <a:srgbClr val="4C1D95"/>
                </a:solidFill>
                <a:latin typeface="Arial"/>
              </a:defRPr>
            </a:pPr>
            <a:r>
              <a:t>MediAI: Transforming Telehealth Through Clinical Intelligence &amp; Safety</a:t>
            </a:r>
          </a:p>
          <a:p>
            <a:pPr>
              <a:spcAft>
                <a:spcPts val="1400"/>
              </a:spcAft>
              <a:defRPr sz="1150">
                <a:solidFill>
                  <a:srgbClr val="0F172A"/>
                </a:solidFill>
                <a:latin typeface="Arial"/>
              </a:defRPr>
            </a:pPr>
            <a:r>
              <a:t>1. Corrected Core Aim: Operates as an ethical Pre-Consultation Safety Triage &amp; Doctor Bridge, eliminating dangerous autonomous drug dispensing.</a:t>
            </a:r>
            <a:br/>
            <a:r>
              <a:t>2. Clinical Case Validated: Proven differential analysis of real-world ulcer-spine referral cases with strict NSAID contraindication warnings.</a:t>
            </a:r>
            <a:br/>
            <a:r>
              <a:t>3. WhatsApp-Grade Messenger: 256-bit encrypted clinical chat with double blue checkmarks and 1-click triage memo sharing.</a:t>
            </a:r>
            <a:br/>
            <a:r>
              <a:t>4. Video Health Community: Direct physician video demonstration streaming and clean semantic articles without raw hashtag symbols.</a:t>
            </a:r>
            <a:br/>
            <a:r>
              <a:t>5. Medical Governance: Rigorous credential verification pipeline protecting patient safety.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