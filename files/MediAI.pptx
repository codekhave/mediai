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2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2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2C2A6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4" name="Image 0" descr="/home/claude/assets/carita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CARITAS UNIVERSITY, ENUGU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261872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9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MediAI</a:t>
            </a:r>
            <a:endParaRPr lang="en-US" sz="6800" dirty="0"/>
          </a:p>
        </p:txBody>
      </p:sp>
      <p:sp>
        <p:nvSpPr>
          <p:cNvPr id="8" name="Text 5"/>
          <p:cNvSpPr/>
          <p:nvPr/>
        </p:nvSpPr>
        <p:spPr>
          <a:xfrm>
            <a:off x="548640" y="36118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Web-Based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Telehealth Platform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128016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120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Isaac Echo</a:t>
            </a:r>
            <a:pPr indent="0" marL="0">
              <a:buNone/>
            </a:pPr>
            <a:r>
              <a:rPr lang="en-US" sz="1450" dirty="0">
                <a:solidFill>
                  <a:srgbClr val="C9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CS/DE/2022/1300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5486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B.Sc. Computer Science  ·  July 2026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Mr Ejike Ugwu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walkthrough from the problem MediAI solves to how it was built, secured, tested, and evaluated.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9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25880" y="2075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The Fix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25880" y="24414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healthcare-seeking is fragmented — and how MediAI closes the gap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3558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9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25880" y="33741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325880" y="373989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MediAI set out to achieve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6542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9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325880" y="46725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325880" y="50383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layered design and technology stack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9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040880" y="2075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040880" y="24414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features patients, doctors &amp; admins use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335584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9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040880" y="33741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Testing &amp; Evaluation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40880" y="373989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correctness and safety were verified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63640" y="465429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DE9F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040880" y="46725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040880" y="503834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achieved, and what comes next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Fragmented Path to Care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Symptom-checking, doctor discovery, booking, and consultation exist today as disconnected, manual steps — several still depending on physical presence or phone calls.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51176" cy="2880360"/>
          </a:xfrm>
          <a:prstGeom prst="roundRect">
            <a:avLst>
              <a:gd name="adj" fmla="val 3584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3B2A8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58468" y="2404872"/>
            <a:ext cx="731520" cy="7315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7" name="Image 0" descr="/home/claude/icons/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5877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331927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Preliminary Guidance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49808" y="3849624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have no low-cost way to gauge a symptom's urgency before contacting a doctor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55848" y="2148840"/>
            <a:ext cx="2551176" cy="2880360"/>
          </a:xfrm>
          <a:prstGeom prst="roundRect">
            <a:avLst>
              <a:gd name="adj" fmla="val 3584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3B2A85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65676" y="2404872"/>
            <a:ext cx="731520" cy="7315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2" name="Image 1" descr="/home/claude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258775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31927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Verified Directory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57016" y="3849624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single, trustworthy, searchable listing of credentialed doctors to consult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63056" y="2148840"/>
            <a:ext cx="2551176" cy="2880360"/>
          </a:xfrm>
          <a:prstGeom prst="roundRect">
            <a:avLst>
              <a:gd name="adj" fmla="val 3584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3B2A85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72884" y="2404872"/>
            <a:ext cx="731520" cy="7315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7" name="Image 2" descr="/home/claude/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764" y="258775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27648" y="331927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Unscheduled Booking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64224" y="3849624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Consultations arranged by phone call or physical queue, with no status tracking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70264" y="2148840"/>
            <a:ext cx="2551176" cy="2880360"/>
          </a:xfrm>
          <a:prstGeom prst="roundRect">
            <a:avLst>
              <a:gd name="adj" fmla="val 3584"/>
            </a:avLst>
          </a:prstGeom>
          <a:solidFill>
            <a:srgbClr val="F5F3FF"/>
          </a:solidFill>
          <a:ln/>
          <a:effectLst>
            <a:outerShdw sx="100000" sy="100000" kx="0" ky="0" algn="bl" rotWithShape="0" blurRad="76200" dist="25400" dir="5400000">
              <a:srgbClr val="3B2A85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880092" y="2404872"/>
            <a:ext cx="731520" cy="7315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2" name="Image 3" descr="/home/claude/icons/rou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2972" y="258775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34856" y="3319272"/>
            <a:ext cx="2221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Record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171432" y="3849624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secure, unified place for medical documents or consultation notes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Four Fixes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MediAI closes the gap by consolidating symptom triage, doctor discovery, booking, consultation, and record-keeping into a single authenticated, role-based system.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933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40680" y="1993392"/>
            <a:ext cx="6202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MEDIAI'S FIX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76072" y="2423160"/>
            <a:ext cx="457200" cy="457200"/>
          </a:xfrm>
          <a:prstGeom prst="ellipse">
            <a:avLst/>
          </a:prstGeom>
          <a:solidFill>
            <a:srgbClr val="EDEDF5"/>
          </a:solidFill>
          <a:ln/>
        </p:spPr>
      </p:sp>
      <p:pic>
        <p:nvPicPr>
          <p:cNvPr id="8" name="Image 0" descr="/home/claude/icons/question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53746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2359152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preliminary guidance on symptom urgency before contacting a doctor</a:t>
            </a:r>
            <a:endParaRPr lang="en-US" sz="1130" dirty="0"/>
          </a:p>
        </p:txBody>
      </p:sp>
      <p:pic>
        <p:nvPicPr>
          <p:cNvPr id="10" name="Image 1" descr="/home/claude/icons/arrow_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487168"/>
            <a:ext cx="457200" cy="457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468112" y="2423160"/>
            <a:ext cx="457200" cy="45720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2" name="Image 2" descr="/home/claude/icons/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412" y="253746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07608" y="2359152"/>
            <a:ext cx="56354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assessment: follow-up questions, severity grading &amp; a persistent disclaimer</a:t>
            </a:r>
            <a:endParaRPr lang="en-US" sz="1130" dirty="0"/>
          </a:p>
        </p:txBody>
      </p:sp>
      <p:sp>
        <p:nvSpPr>
          <p:cNvPr id="14" name="Shape 9"/>
          <p:cNvSpPr/>
          <p:nvPr/>
        </p:nvSpPr>
        <p:spPr>
          <a:xfrm>
            <a:off x="548640" y="3227832"/>
            <a:ext cx="11094415" cy="0"/>
          </a:xfrm>
          <a:prstGeom prst="line">
            <a:avLst/>
          </a:prstGeom>
          <a:noFill/>
          <a:ln w="12700">
            <a:solidFill>
              <a:srgbClr val="EDE9F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76072" y="3364992"/>
            <a:ext cx="457200" cy="457200"/>
          </a:xfrm>
          <a:prstGeom prst="ellipse">
            <a:avLst/>
          </a:prstGeom>
          <a:solidFill>
            <a:srgbClr val="EDEDF5"/>
          </a:solidFill>
          <a:ln/>
        </p:spPr>
      </p:sp>
      <p:pic>
        <p:nvPicPr>
          <p:cNvPr id="16" name="Image 3" descr="/home/claude/icons/search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3479292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15568" y="3300984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single, trustworthy, searchable directory of doctors</a:t>
            </a:r>
            <a:endParaRPr lang="en-US" sz="1130" dirty="0"/>
          </a:p>
        </p:txBody>
      </p:sp>
      <p:pic>
        <p:nvPicPr>
          <p:cNvPr id="18" name="Image 4" descr="/home/claude/icons/arrow_vio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3429000"/>
            <a:ext cx="457200" cy="4572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468112" y="3364992"/>
            <a:ext cx="457200" cy="45720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0" name="Image 5" descr="/home/claude/icons/doctor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2412" y="3479292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007608" y="3300984"/>
            <a:ext cx="56354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doctor directory, searchable by specialisation, availability &amp; rating</a:t>
            </a:r>
            <a:endParaRPr lang="en-US" sz="1130" dirty="0"/>
          </a:p>
        </p:txBody>
      </p:sp>
      <p:sp>
        <p:nvSpPr>
          <p:cNvPr id="22" name="Shape 14"/>
          <p:cNvSpPr/>
          <p:nvPr/>
        </p:nvSpPr>
        <p:spPr>
          <a:xfrm>
            <a:off x="548640" y="4169664"/>
            <a:ext cx="11094415" cy="0"/>
          </a:xfrm>
          <a:prstGeom prst="line">
            <a:avLst/>
          </a:prstGeom>
          <a:noFill/>
          <a:ln w="12700">
            <a:solidFill>
              <a:srgbClr val="EDE9FE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576072" y="4306824"/>
            <a:ext cx="457200" cy="457200"/>
          </a:xfrm>
          <a:prstGeom prst="ellipse">
            <a:avLst/>
          </a:prstGeom>
          <a:solidFill>
            <a:srgbClr val="EDEDF5"/>
          </a:solidFill>
          <a:ln/>
        </p:spPr>
      </p:sp>
      <p:pic>
        <p:nvPicPr>
          <p:cNvPr id="24" name="Image 6" descr="/home/claude/icons/clock_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" y="4421124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115568" y="4242816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and consultation handled by phone call or improvised video calls</a:t>
            </a:r>
            <a:endParaRPr lang="en-US" sz="1130" dirty="0"/>
          </a:p>
        </p:txBody>
      </p:sp>
      <p:pic>
        <p:nvPicPr>
          <p:cNvPr id="26" name="Image 7" descr="/home/claude/icons/arrow_viole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8304" y="4370832"/>
            <a:ext cx="457200" cy="4572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5468112" y="4306824"/>
            <a:ext cx="457200" cy="45720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8" name="Image 8" descr="/home/claude/icons/video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2412" y="4421124"/>
            <a:ext cx="228600" cy="2286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007608" y="4242816"/>
            <a:ext cx="56354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booking with a signed, time-windowed Jitsi video-consultation room</a:t>
            </a:r>
            <a:endParaRPr lang="en-US" sz="1130" dirty="0"/>
          </a:p>
        </p:txBody>
      </p:sp>
      <p:sp>
        <p:nvSpPr>
          <p:cNvPr id="30" name="Shape 19"/>
          <p:cNvSpPr/>
          <p:nvPr/>
        </p:nvSpPr>
        <p:spPr>
          <a:xfrm>
            <a:off x="548640" y="5111496"/>
            <a:ext cx="11094415" cy="0"/>
          </a:xfrm>
          <a:prstGeom prst="line">
            <a:avLst/>
          </a:prstGeom>
          <a:noFill/>
          <a:ln w="12700">
            <a:solidFill>
              <a:srgbClr val="EDE9FE"/>
            </a:solidFill>
            <a:prstDash val="solid"/>
          </a:ln>
        </p:spPr>
      </p:sp>
      <p:sp>
        <p:nvSpPr>
          <p:cNvPr id="31" name="Shape 20"/>
          <p:cNvSpPr/>
          <p:nvPr/>
        </p:nvSpPr>
        <p:spPr>
          <a:xfrm>
            <a:off x="576072" y="5248656"/>
            <a:ext cx="457200" cy="457200"/>
          </a:xfrm>
          <a:prstGeom prst="ellipse">
            <a:avLst/>
          </a:prstGeom>
          <a:solidFill>
            <a:srgbClr val="EDEDF5"/>
          </a:solidFill>
          <a:ln/>
        </p:spPr>
      </p:sp>
      <p:pic>
        <p:nvPicPr>
          <p:cNvPr id="32" name="Image 9" descr="/home/claude/icons/route_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372" y="5362956"/>
            <a:ext cx="228600" cy="22860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1115568" y="5184648"/>
            <a:ext cx="3410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secure, central place for documents or consultation notes</a:t>
            </a:r>
            <a:endParaRPr lang="en-US" sz="1130" dirty="0"/>
          </a:p>
        </p:txBody>
      </p:sp>
      <p:pic>
        <p:nvPicPr>
          <p:cNvPr id="34" name="Image 10" descr="/home/claude/icons/arrow_violet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8304" y="5312664"/>
            <a:ext cx="457200" cy="457200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5468112" y="5248656"/>
            <a:ext cx="457200" cy="45720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36" name="Image 11" descr="/home/claude/icons/upload_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82412" y="5362956"/>
            <a:ext cx="228600" cy="228600"/>
          </a:xfrm>
          <a:prstGeom prst="rect">
            <a:avLst/>
          </a:prstGeom>
        </p:spPr>
      </p:pic>
      <p:sp>
        <p:nvSpPr>
          <p:cNvPr id="37" name="Text 23"/>
          <p:cNvSpPr/>
          <p:nvPr/>
        </p:nvSpPr>
        <p:spPr>
          <a:xfrm>
            <a:off x="6007608" y="5184648"/>
            <a:ext cx="56354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document storage and consultation notes, scoped to the treating doctor</a:t>
            </a:r>
            <a:endParaRPr lang="en-US" sz="1130" dirty="0"/>
          </a:p>
        </p:txBody>
      </p:sp>
      <p:sp>
        <p:nvSpPr>
          <p:cNvPr id="38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9" name="Text 2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160520" cy="4160520"/>
          </a:xfrm>
          <a:prstGeom prst="roundRect">
            <a:avLst>
              <a:gd name="adj" fmla="val 2637"/>
            </a:avLst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5400000">
              <a:srgbClr val="3B2A8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8972" y="1741932"/>
            <a:ext cx="685800" cy="685800"/>
          </a:xfrm>
          <a:prstGeom prst="ellipse">
            <a:avLst/>
          </a:prstGeom>
          <a:solidFill>
            <a:srgbClr val="4C1D95"/>
          </a:solidFill>
          <a:ln/>
        </p:spPr>
      </p:sp>
      <p:pic>
        <p:nvPicPr>
          <p:cNvPr id="6" name="Image 0" descr="/home/claude/icons/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422" y="1913382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514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AIM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 web-based telehealth platform that gives patients AI-assisted symptom assessment, verified doctor booking, video consultation, secure records, and communication — all within one role-based system.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148072" y="1600200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10" name="Image 1" descr="/home/claude/icons/shield_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804" y="174193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33872" y="1572768"/>
            <a:ext cx="580918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Role-separated JWT authentication for patients, doctors &amp; administrators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148072" y="2359152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13" name="Image 2" descr="/home/claude/icons/robot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804" y="2500884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33872" y="2331720"/>
            <a:ext cx="580918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symptom assessment with severity grading &amp; disclaimer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148072" y="3118104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16" name="Image 3" descr="/home/claude/icons/doctor_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804" y="3259836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33872" y="3090672"/>
            <a:ext cx="580918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discovery, profiles &amp; administrator-led verification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148072" y="3877056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19" name="Image 4" descr="/home/claude/icons/video_vio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9804" y="4018788"/>
            <a:ext cx="283464" cy="28346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833872" y="3849624"/>
            <a:ext cx="580918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booking with signed, time-windowed video consultation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5148072" y="4636008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22" name="Image 5" descr="/home/claude/icons/upload_viol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9804" y="4777740"/>
            <a:ext cx="283464" cy="28346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833872" y="4608576"/>
            <a:ext cx="580918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document storage plus real-time messaging &amp; notifications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5148072" y="5394960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25" name="Image 6" descr="/home/claude/icons/ambulance_viol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9804" y="5536692"/>
            <a:ext cx="283464" cy="28346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833872" y="5367528"/>
            <a:ext cx="580918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emergency-request assignment to an on-duty doctor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Layered, Modular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Presentation, business logic, and persistence are separated into distinct layers, so a change in one — like swapping a storage provider — never ripples into the others.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4415" cy="777240"/>
          </a:xfrm>
          <a:prstGeom prst="roundRect">
            <a:avLst>
              <a:gd name="adj" fmla="val 10588"/>
            </a:avLst>
          </a:prstGeom>
          <a:solidFill>
            <a:srgbClr val="F5F3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1874520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single-page app  ·  TanStack Query  ·  Zustand  ·  Tailwind CSS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11094415" cy="777240"/>
          </a:xfrm>
          <a:prstGeom prst="roundRect">
            <a:avLst>
              <a:gd name="adj" fmla="val 10588"/>
            </a:avLst>
          </a:prstGeom>
          <a:solidFill>
            <a:srgbClr val="5B21B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81635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Logic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2816352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  ·  Serializers  ·  Role-based Permission Classes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11094415" cy="777240"/>
          </a:xfrm>
          <a:prstGeom prst="roundRect">
            <a:avLst>
              <a:gd name="adj" fmla="val 10588"/>
            </a:avLst>
          </a:prstGeom>
          <a:solidFill>
            <a:srgbClr val="1E1B4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58184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Persistence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7680" y="3758184"/>
            <a:ext cx="69796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accessed exclusively through the Django ORM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JSON Web Token (JWT) authentication scheme cuts across all three layers, verifying every request's identity without server-side session state.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285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THIRD-PARTY INTEGRATIONS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" y="5687568"/>
            <a:ext cx="548640" cy="548640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17" name="Image 0" descr="/home/claude/icons/cloud_vio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824728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234440" y="5669280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234440" y="5961888"/>
            <a:ext cx="188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document storage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427400" y="5687568"/>
            <a:ext cx="548640" cy="548640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21" name="Image 1" descr="/home/claude/icons/video_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560" y="5824728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076624" y="5669280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Jitsi Meet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4076624" y="5961888"/>
            <a:ext cx="188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video consultation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269584" y="5687568"/>
            <a:ext cx="548640" cy="548640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25" name="Image 2" descr="/home/claude/icons/bolt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744" y="5824728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18808" y="5669280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Channels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6918808" y="5961888"/>
            <a:ext cx="188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&amp; alerts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111767" y="5687568"/>
            <a:ext cx="548640" cy="548640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29" name="Image 3" descr="/home/claude/icons/brain_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8927" y="5824728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760991" y="5669280"/>
            <a:ext cx="188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9760991" y="5961888"/>
            <a:ext cx="1882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assessment engine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MediAI Delivers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15258" cy="196596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63500" dist="25400" dir="5400000">
              <a:srgbClr val="3B2A8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700784"/>
            <a:ext cx="658368" cy="65836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6" name="Image 0" descr="/home/claude/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8653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00784"/>
            <a:ext cx="2280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Assessment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4672" y="2505456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questions, severity grading, and a persistent medical disclaimer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38218" y="1481328"/>
            <a:ext cx="3515258" cy="196596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63500" dist="25400" dir="5400000">
              <a:srgbClr val="3B2A85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5962" y="1700784"/>
            <a:ext cx="658368" cy="65836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1" name="Image 1" descr="/home/claude/icons/docto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554" y="18653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89778" y="1700784"/>
            <a:ext cx="2280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Doctor Directory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94250" y="2505456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book approved doctors by specialisation, availability &amp; rating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27797" y="1481328"/>
            <a:ext cx="3515258" cy="196596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63500" dist="25400" dir="5400000">
              <a:srgbClr val="3B2A85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5541" y="1700784"/>
            <a:ext cx="658368" cy="65836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6" name="Image 2" descr="/home/claude/icons/vide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133" y="186537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79357" y="1700784"/>
            <a:ext cx="2280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Video Consultation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83829" y="2505456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time-windowed Jitsi Meet rooms generated per appointment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3721608"/>
            <a:ext cx="3515258" cy="196596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63500" dist="25400" dir="5400000">
              <a:srgbClr val="3B2A85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86384" y="3941064"/>
            <a:ext cx="658368" cy="65836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1" name="Image 3" descr="/home/claude/icons/uploa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105656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3941064"/>
            <a:ext cx="2280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Document Storage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04672" y="4745736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held securely via Cloudinary signed, time-limited URLs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38218" y="3721608"/>
            <a:ext cx="3515258" cy="196596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63500" dist="25400" dir="5400000">
              <a:srgbClr val="3B2A85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5962" y="3941064"/>
            <a:ext cx="658368" cy="65836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6" name="Image 4" descr="/home/claude/icons/comment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554" y="4105656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89778" y="3941064"/>
            <a:ext cx="2280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94250" y="4745736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WebSocket-based chat and notifications between patient and doctor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127797" y="3721608"/>
            <a:ext cx="3515258" cy="1965960"/>
          </a:xfrm>
          <a:prstGeom prst="roundRect">
            <a:avLst>
              <a:gd name="adj" fmla="val 4651"/>
            </a:avLst>
          </a:prstGeom>
          <a:solidFill>
            <a:srgbClr val="F5F3FF"/>
          </a:solidFill>
          <a:ln/>
          <a:effectLst>
            <a:outerShdw sx="100000" sy="100000" kx="0" ky="0" algn="bl" rotWithShape="0" blurRad="63500" dist="25400" dir="5400000">
              <a:srgbClr val="3B2A85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5541" y="3941064"/>
            <a:ext cx="658368" cy="65836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31" name="Image 5" descr="/home/claude/icons/ambulanc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0133" y="4105656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79357" y="3941064"/>
            <a:ext cx="228081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Routing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383829" y="4745736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assignment to an available emergency-duty doctor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MediAI in Action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from the deployed application.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2039112"/>
            <a:ext cx="3722522" cy="1788852"/>
          </a:xfrm>
          <a:prstGeom prst="roundRect">
            <a:avLst>
              <a:gd name="adj" fmla="val 4089"/>
            </a:avLst>
          </a:prstGeom>
          <a:solidFill>
            <a:srgbClr val="FFFFFF"/>
          </a:solidFill>
          <a:ln w="15875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38100" dir="5400000">
              <a:srgbClr val="3B2A85">
                <a:alpha val="16000"/>
              </a:srgbClr>
            </a:outerShdw>
          </a:effectLst>
        </p:spPr>
      </p:sp>
      <p:pic>
        <p:nvPicPr>
          <p:cNvPr id="6" name="Image 0" descr="/home/claude/assets/plate2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3503066" cy="15693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974268"/>
            <a:ext cx="3503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Dashboard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34586" y="2039112"/>
            <a:ext cx="3722522" cy="1788852"/>
          </a:xfrm>
          <a:prstGeom prst="roundRect">
            <a:avLst>
              <a:gd name="adj" fmla="val 4089"/>
            </a:avLst>
          </a:prstGeom>
          <a:solidFill>
            <a:srgbClr val="FFFFFF"/>
          </a:solidFill>
          <a:ln w="15875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38100" dir="5400000">
              <a:srgbClr val="3B2A85">
                <a:alpha val="16000"/>
              </a:srgbClr>
            </a:outerShdw>
          </a:effectLst>
        </p:spPr>
      </p:sp>
      <p:pic>
        <p:nvPicPr>
          <p:cNvPr id="9" name="Image 1" descr="/home/claude/assets/plate3_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314" y="2148840"/>
            <a:ext cx="3503066" cy="15693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4314" y="3974268"/>
            <a:ext cx="3503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Symptom Assessment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30261" y="2039112"/>
            <a:ext cx="3722522" cy="1788852"/>
          </a:xfrm>
          <a:prstGeom prst="roundRect">
            <a:avLst>
              <a:gd name="adj" fmla="val 4089"/>
            </a:avLst>
          </a:prstGeom>
          <a:solidFill>
            <a:srgbClr val="FFFFFF"/>
          </a:solidFill>
          <a:ln w="15875">
            <a:solidFill>
              <a:srgbClr val="EDE9FE"/>
            </a:solidFill>
            <a:prstDash val="solid"/>
          </a:ln>
          <a:effectLst>
            <a:outerShdw sx="100000" sy="100000" kx="0" ky="0" algn="bl" rotWithShape="0" blurRad="101600" dist="38100" dir="5400000">
              <a:srgbClr val="3B2A85">
                <a:alpha val="16000"/>
              </a:srgbClr>
            </a:outerShdw>
          </a:effectLst>
        </p:spPr>
      </p:sp>
      <p:pic>
        <p:nvPicPr>
          <p:cNvPr id="12" name="Image 2" descr="/home/claude/assets/plate6_adm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989" y="2148840"/>
            <a:ext cx="3503066" cy="15693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39989" y="3974268"/>
            <a:ext cx="35030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Analytics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4678356"/>
            <a:ext cx="11094415" cy="1417320"/>
          </a:xfrm>
          <a:prstGeom prst="roundRect">
            <a:avLst>
              <a:gd name="adj" fmla="val 6452"/>
            </a:avLst>
          </a:prstGeom>
          <a:solidFill>
            <a:srgbClr val="F5F3FF"/>
          </a:solidFill>
          <a:ln/>
        </p:spPr>
      </p:sp>
      <p:sp>
        <p:nvSpPr>
          <p:cNvPr id="15" name="Shape 10"/>
          <p:cNvSpPr/>
          <p:nvPr/>
        </p:nvSpPr>
        <p:spPr>
          <a:xfrm>
            <a:off x="923544" y="5103552"/>
            <a:ext cx="566928" cy="56692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6" name="Image 3" descr="/home/claude/icons/us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" y="5245284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91056" y="4897812"/>
            <a:ext cx="2509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Role-Based Views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1591056" y="5208708"/>
            <a:ext cx="2509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Distinct, purpose-built dashboards for patients, doctors &amp; admins</a:t>
            </a:r>
            <a:endParaRPr lang="en-US" sz="1030" dirty="0"/>
          </a:p>
        </p:txBody>
      </p:sp>
      <p:sp>
        <p:nvSpPr>
          <p:cNvPr id="19" name="Shape 13"/>
          <p:cNvSpPr/>
          <p:nvPr/>
        </p:nvSpPr>
        <p:spPr>
          <a:xfrm>
            <a:off x="4621682" y="5103552"/>
            <a:ext cx="566928" cy="56692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0" name="Image 4" descr="/home/claude/icons/bol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3414" y="5245284"/>
            <a:ext cx="283464" cy="2834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89194" y="4897812"/>
            <a:ext cx="2509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by Default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5289194" y="5208708"/>
            <a:ext cx="2509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alerts &amp; appointment status update live over WebSocket</a:t>
            </a:r>
            <a:endParaRPr lang="en-US" sz="1030" dirty="0"/>
          </a:p>
        </p:txBody>
      </p:sp>
      <p:sp>
        <p:nvSpPr>
          <p:cNvPr id="23" name="Shape 16"/>
          <p:cNvSpPr/>
          <p:nvPr/>
        </p:nvSpPr>
        <p:spPr>
          <a:xfrm>
            <a:off x="8319821" y="5103552"/>
            <a:ext cx="566928" cy="56692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4" name="Image 5" descr="/home/claude/icons/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553" y="5245284"/>
            <a:ext cx="283464" cy="28346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987333" y="4897812"/>
            <a:ext cx="25094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 Everywhere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8987333" y="5208708"/>
            <a:ext cx="25094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result carries a persistent, non-suppressible medical notice</a:t>
            </a:r>
            <a:endParaRPr lang="en-US" sz="1030" dirty="0"/>
          </a:p>
        </p:txBody>
      </p:sp>
      <p:sp>
        <p:nvSpPr>
          <p:cNvPr id="27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ASSURANCE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Verified with Rigor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IN LAYERS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76072" y="1883664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6" name="Image 0" descr="/home/claude/icons/lock_vio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2025396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874520"/>
            <a:ext cx="5367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61872" y="2203704"/>
            <a:ext cx="5367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 password hashing, plus short-lived JWT access &amp; refresh tokens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" y="3054096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10" name="Image 1" descr="/home/claude/icons/shield_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" y="319582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3044952"/>
            <a:ext cx="5367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61872" y="3374136"/>
            <a:ext cx="5367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 classes, with querysets scoped to the owning user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76072" y="4224528"/>
            <a:ext cx="566928" cy="566928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14" name="Image 2" descr="/home/claude/icons/layers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" y="436626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4215384"/>
            <a:ext cx="5367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&amp; Platform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61872" y="4544568"/>
            <a:ext cx="5367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allow-list, HSTS, secure headers, and request throttling on sensitive routes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086600" y="1508760"/>
            <a:ext cx="4556455" cy="2331720"/>
          </a:xfrm>
          <a:prstGeom prst="roundRect">
            <a:avLst>
              <a:gd name="adj" fmla="val 4706"/>
            </a:avLst>
          </a:prstGeom>
          <a:solidFill>
            <a:srgbClr val="5B21B6"/>
          </a:solidFill>
          <a:ln/>
          <a:effectLst>
            <a:outerShdw sx="100000" sy="100000" kx="0" ky="0" algn="bl" rotWithShape="0" blurRad="101600" dist="38100" dir="5400000">
              <a:srgbClr val="3B2A85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086600" y="1783080"/>
            <a:ext cx="45564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7</a:t>
            </a:r>
            <a:endParaRPr lang="en-US" sz="5200" dirty="0"/>
          </a:p>
        </p:txBody>
      </p:sp>
      <p:sp>
        <p:nvSpPr>
          <p:cNvPr id="19" name="Text 14"/>
          <p:cNvSpPr/>
          <p:nvPr/>
        </p:nvSpPr>
        <p:spPr>
          <a:xfrm>
            <a:off x="7406640" y="2743200"/>
            <a:ext cx="3916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objectives achieved and traced to implementation &amp; test evidence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086600" y="4069080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CARRIED OUT INCREMENTALLY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132320" y="4489704"/>
            <a:ext cx="100584" cy="1005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17"/>
          <p:cNvSpPr/>
          <p:nvPr/>
        </p:nvSpPr>
        <p:spPr>
          <a:xfrm>
            <a:off x="7360920" y="4407408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132320" y="4873752"/>
            <a:ext cx="100584" cy="1005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19"/>
          <p:cNvSpPr/>
          <p:nvPr/>
        </p:nvSpPr>
        <p:spPr>
          <a:xfrm>
            <a:off x="7360920" y="4791456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7132320" y="5257800"/>
            <a:ext cx="100584" cy="1005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1"/>
          <p:cNvSpPr/>
          <p:nvPr/>
        </p:nvSpPr>
        <p:spPr>
          <a:xfrm>
            <a:off x="7360920" y="5175504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7132320" y="5641848"/>
            <a:ext cx="100584" cy="1005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3"/>
          <p:cNvSpPr/>
          <p:nvPr/>
        </p:nvSpPr>
        <p:spPr>
          <a:xfrm>
            <a:off x="7360920" y="5559552"/>
            <a:ext cx="4282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840480"/>
            <a:ext cx="5943600" cy="5943600"/>
          </a:xfrm>
          <a:prstGeom prst="ellipse">
            <a:avLst/>
          </a:prstGeom>
          <a:solidFill>
            <a:srgbClr val="2C2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9A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Path Forward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MediAI substantially addresses the fragmentation of remote healthcare, achieving all seven stated objectives. It stands as a credible academic prototype — unifying AI-assisted triage, verified booking, video consultation, and secure records in one authenticated platform, though not yet a production-ready clinical system.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1600200"/>
            <a:ext cx="5287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55080" y="19659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2A6B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1938528"/>
            <a:ext cx="4785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genuine payment gateway (Paystack, Flutterwave, or Stripe) with webhook confirmation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55080" y="28620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2A6B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862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2834640"/>
            <a:ext cx="4785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refresh-token blacklisting and move JWT storage to HttpOnly, secure cookies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55080" y="37581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2A6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3730752"/>
            <a:ext cx="4785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object-level authorization gaps and introduce an automated test suite with CI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46542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C2A6B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4626864"/>
            <a:ext cx="4785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an independent medical and security review before any clinical deployment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2C2A6B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3931920"/>
            <a:ext cx="4572000" cy="457200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828800"/>
            <a:ext cx="1005840" cy="100584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5" name="Image 0" descr="/home/claude/icons/comment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4388" y="20802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97180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55768" y="4709160"/>
            <a:ext cx="128016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8920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Isaac Echo  ·  CS/DE/2022/1300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371600" y="5230368"/>
            <a:ext cx="9448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 Web-Based AI-Assisted Telehealth Platform (MediAI)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0" y="55321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Science, Caritas University, Amorji-Nike, Enugu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MediAI - AI-Assisted Telehealth Platform</dc:title>
  <dc:subject>PptxGenJS Presentation</dc:subject>
  <dc:creator>Daniel Isaac Echo</dc:creator>
  <cp:lastModifiedBy>Daniel Isaac Echo</cp:lastModifiedBy>
  <cp:revision>1</cp:revision>
  <dcterms:created xsi:type="dcterms:W3CDTF">2026-08-09T16:19:25Z</dcterms:created>
  <dcterms:modified xsi:type="dcterms:W3CDTF">2026-08-09T16:19:25Z</dcterms:modified>
</cp:coreProperties>
</file>